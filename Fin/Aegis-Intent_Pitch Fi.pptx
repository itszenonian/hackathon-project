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e3b53492b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e3b53492b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3504" y="484632"/>
            <a:ext cx="164592" cy="164592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50355" y="484630"/>
            <a:ext cx="3657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AEGIS-INTENT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772400" y="4114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HACKATHON  ·  2026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85800" y="2331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DeFi yield, by intent.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85800" y="2743200"/>
            <a:ext cx="10972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conversational copilot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multi-chain yield.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85800" y="4617720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An AI chatbot that turns a single risk preference into the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best stablecoin, LP, and single-asset strategies across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Solana, Monad, Base, and Sui — ranked by APY, TVL, and risk.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685800" y="6400800"/>
            <a:ext cx="1828800" cy="14287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Built on DeFiLlama  ·  Live across 4 chains  ·  Risk-scored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01  ·  THE MARKET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85800" y="8686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$170B+ locked. $6.5B traded daily. Still nowhere to start.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685800" y="1783080"/>
            <a:ext cx="10789920" cy="714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85800" y="219456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$170B+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3291840" y="230428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Total DeFi TVL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3291840" y="26517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Across all chains and protocols  ·  Mar 2026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85800" y="352044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$6.5B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3291840" y="363016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DEX daily trading volume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3291840" y="39776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Aggregated across 1,100+ decentralized exchanges  ·  Apr 2026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85800" y="484632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+37%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3291840" y="495604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DEX volume growth in 2025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3291840" y="530352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Top-10 DEXs: $876B in Q2 2025, up 25% QoQ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7589520" y="2194560"/>
            <a:ext cx="3931920" cy="4023360"/>
          </a:xfrm>
          <a:prstGeom prst="roundRect">
            <a:avLst>
              <a:gd fmla="val 4000" name="adj"/>
            </a:avLst>
          </a:prstGeom>
          <a:solidFill>
            <a:srgbClr val="0B14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7955280" y="25146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WHERE AEGIS PLAYS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955280" y="283464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fast-growing L1/L2s where the next yield wave lands first.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7955280" y="4114800"/>
            <a:ext cx="1531620" cy="868680"/>
          </a:xfrm>
          <a:prstGeom prst="roundRect">
            <a:avLst>
              <a:gd fmla="val 8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8119872" y="4233672"/>
            <a:ext cx="12573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SOLANA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119872" y="4553712"/>
            <a:ext cx="12573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$2.65B daily DEX vol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9624060" y="4114800"/>
            <a:ext cx="1531620" cy="868680"/>
          </a:xfrm>
          <a:prstGeom prst="roundRect">
            <a:avLst>
              <a:gd fmla="val 8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9788652" y="4233672"/>
            <a:ext cx="12573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9788652" y="4553712"/>
            <a:ext cx="12573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Top EVM L2 by TVL growth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7955280" y="5120640"/>
            <a:ext cx="1531620" cy="868680"/>
          </a:xfrm>
          <a:prstGeom prst="roundRect">
            <a:avLst>
              <a:gd fmla="val 8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8119872" y="5239512"/>
            <a:ext cx="12573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MONAD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119872" y="5559552"/>
            <a:ext cx="12573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New high-throughput L1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9624060" y="5120640"/>
            <a:ext cx="1531620" cy="868680"/>
          </a:xfrm>
          <a:prstGeom prst="roundRect">
            <a:avLst>
              <a:gd fmla="val 8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9788652" y="5239512"/>
            <a:ext cx="12573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SUI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9788652" y="5559552"/>
            <a:ext cx="12573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Fastest-growing Move chain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Aegis-Intent  ·  Hackathon Pitch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685800" y="6510528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02 / 10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02  ·  THE GAP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85800" y="8686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DeFi has the yields. It just hides them.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685800" y="1783080"/>
            <a:ext cx="10789920" cy="714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685800" y="2148840"/>
            <a:ext cx="5212080" cy="4023360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1051560" y="246888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051560" y="2834640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Users juggle a dozen dashboards to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find real yield.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1133856" y="4133087"/>
            <a:ext cx="109728" cy="109728"/>
          </a:xfrm>
          <a:prstGeom prst="ellipse">
            <a:avLst/>
          </a:prstGeom>
          <a:solidFill>
            <a:srgbClr val="05B8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1463040" y="4023359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Fragmented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463040" y="4315967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Yields live in 100+ protocols across chains. No one view.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1133856" y="4818887"/>
            <a:ext cx="109728" cy="109728"/>
          </a:xfrm>
          <a:prstGeom prst="ellipse">
            <a:avLst/>
          </a:prstGeom>
          <a:solidFill>
            <a:srgbClr val="05B8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1463040" y="4709159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Opaque risk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1463040" y="5001767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APY is shown; the risk you take to earn it is not.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1133856" y="5504687"/>
            <a:ext cx="109728" cy="109728"/>
          </a:xfrm>
          <a:prstGeom prst="ellipse">
            <a:avLst/>
          </a:prstGeom>
          <a:solidFill>
            <a:srgbClr val="05B8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1463040" y="5394959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Decision fatigue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1463040" y="5687567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Users default to top-of-list pools — often worst-adjusted.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6263640" y="2148840"/>
            <a:ext cx="5212080" cy="4023360"/>
          </a:xfrm>
          <a:prstGeom prst="roundRect">
            <a:avLst>
              <a:gd fmla="val 4000" name="adj"/>
            </a:avLst>
          </a:prstGeom>
          <a:solidFill>
            <a:srgbClr val="0B14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6629400" y="246888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6629400" y="2834640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question. Optimal strategy,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ranked and ready to execute.</a:t>
            </a: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6711696" y="4133087"/>
            <a:ext cx="109728" cy="109728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7040880" y="4023359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Intent-first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7040880" y="4315967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User states a goal — "hold stable" or "long BTC" — not a protocol.</a:t>
            </a: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6711696" y="4818887"/>
            <a:ext cx="109728" cy="109728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7040880" y="4709159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Risk-scored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7040880" y="5001767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Every pool gets a 0–2 Risk Point from protocol TVL + pool size.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6711696" y="5504687"/>
            <a:ext cx="109728" cy="109728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7040880" y="5394959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Multi-chain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7040880" y="5687567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Solana · Monad · Base · Sui, deduped and live from DeFiLlama.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Aegis-Intent  ·  Hackathon Pitch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685800" y="6510528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03 / 10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03  ·  HOW IT WORKS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85800" y="868680"/>
            <a:ext cx="10972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One conversation. Three branches. A ranked strategy.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685800" y="1494978"/>
            <a:ext cx="10789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685800" y="1815018"/>
            <a:ext cx="1828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STEP 01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85800" y="2107626"/>
            <a:ext cx="1005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"What asset do you want to hold?"</a:t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312313" y="2776623"/>
            <a:ext cx="3703200" cy="29262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312313" y="2776623"/>
            <a:ext cx="73200" cy="2926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632353" y="3050943"/>
            <a:ext cx="315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BRANCH A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632353" y="3343550"/>
            <a:ext cx="315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Stable Asset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632353" y="3828183"/>
            <a:ext cx="315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USDC · USDT · DAI · USDS · PYUSD</a:t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632353" y="4285383"/>
            <a:ext cx="30633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632353" y="4468263"/>
            <a:ext cx="315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 RECOMMEND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632353" y="4742583"/>
            <a:ext cx="315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Top stablecoin strategies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632353" y="5154063"/>
            <a:ext cx="3154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Ranked by APY × TVL × Risk Point across all 4 chains.</a:t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4244233" y="2776623"/>
            <a:ext cx="3703200" cy="29262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4244233" y="2776623"/>
            <a:ext cx="73200" cy="2926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4564272" y="3050943"/>
            <a:ext cx="315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BRANCH B1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4564272" y="3343550"/>
            <a:ext cx="315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Volatile · Partial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4564272" y="3828183"/>
            <a:ext cx="315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BTC · ETH · SOL · MON · SUI</a:t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4564273" y="4285383"/>
            <a:ext cx="30633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4564272" y="4468263"/>
            <a:ext cx="315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 RECOMMEND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4564272" y="4742583"/>
            <a:ext cx="315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LP pools (asset + stable)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4564272" y="5154063"/>
            <a:ext cx="3154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Earn yield while keeping partial stablecoin exposure.</a:t>
            </a:r>
            <a:endParaRPr/>
          </a:p>
        </p:txBody>
      </p:sp>
      <p:sp>
        <p:nvSpPr>
          <p:cNvPr id="188" name="Google Shape;188;p16"/>
          <p:cNvSpPr/>
          <p:nvPr/>
        </p:nvSpPr>
        <p:spPr>
          <a:xfrm>
            <a:off x="8176153" y="2776623"/>
            <a:ext cx="3703200" cy="29262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/>
          <p:nvPr/>
        </p:nvSpPr>
        <p:spPr>
          <a:xfrm>
            <a:off x="8176153" y="2776623"/>
            <a:ext cx="73200" cy="2926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8496193" y="3050943"/>
            <a:ext cx="315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BRANCH B2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8496193" y="3343550"/>
            <a:ext cx="315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Volatile · Full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8496193" y="3828183"/>
            <a:ext cx="315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Maximum exposure</a:t>
            </a:r>
            <a:endParaRPr/>
          </a:p>
        </p:txBody>
      </p:sp>
      <p:sp>
        <p:nvSpPr>
          <p:cNvPr id="193" name="Google Shape;193;p16"/>
          <p:cNvSpPr/>
          <p:nvPr/>
        </p:nvSpPr>
        <p:spPr>
          <a:xfrm>
            <a:off x="8496193" y="4285383"/>
            <a:ext cx="30633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8496193" y="4468263"/>
            <a:ext cx="315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 RECOMMEND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8496193" y="4742583"/>
            <a:ext cx="315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Lending · staking · single-sided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8496193" y="5154063"/>
            <a:ext cx="3154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Maximize return on a fully held volatile position.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Aegis-Intent  ·  Hackathon Pitch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685800" y="6510528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04 / 10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04  ·  UNDER THE HOOD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685800" y="8686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data. Real risk math. Ready to ship.</a:t>
            </a: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685800" y="1783080"/>
            <a:ext cx="10789920" cy="7143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685800" y="219456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2514600" y="22860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Chains live today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2514600" y="26060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Solana · Monad · Base · Sui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685800" y="342900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$1M+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2514600" y="35204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 TVL per pool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2514600" y="38404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Filters out illiquid noise and dust pools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685800" y="466344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0–2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2514600" y="47548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Point per pool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2514600" y="50749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Combines protocol rank + TVL quartile</a:t>
            </a:r>
            <a:endParaRPr/>
          </a:p>
        </p:txBody>
      </p:sp>
      <p:sp>
        <p:nvSpPr>
          <p:cNvPr id="216" name="Google Shape;216;p17"/>
          <p:cNvSpPr/>
          <p:nvPr/>
        </p:nvSpPr>
        <p:spPr>
          <a:xfrm>
            <a:off x="6400800" y="2194560"/>
            <a:ext cx="5120640" cy="18288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>
            <a:off x="6766560" y="233172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THE STACK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6766560" y="2651760"/>
            <a:ext cx="4389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DeFiLlama  →  Python pipeline (dedupe + categorize + risk score)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Conversational LLM front-end  →  one-click execute.</a:t>
            </a:r>
            <a:endParaRPr/>
          </a:p>
        </p:txBody>
      </p:sp>
      <p:sp>
        <p:nvSpPr>
          <p:cNvPr id="219" name="Google Shape;219;p17"/>
          <p:cNvSpPr/>
          <p:nvPr/>
        </p:nvSpPr>
        <p:spPr>
          <a:xfrm>
            <a:off x="6400800" y="4160520"/>
            <a:ext cx="5120640" cy="2103120"/>
          </a:xfrm>
          <a:prstGeom prst="roundRect">
            <a:avLst>
              <a:gd fmla="val 5000" name="adj"/>
            </a:avLst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6766560" y="429768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B1426"/>
                </a:solidFill>
                <a:latin typeface="Calibri"/>
                <a:ea typeface="Calibri"/>
                <a:cs typeface="Calibri"/>
                <a:sym typeface="Calibri"/>
              </a:rPr>
              <a:t>WHAT WE'RE BUILDING NEXT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6766560" y="461772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B1426"/>
                </a:solidFill>
                <a:latin typeface="Calibri"/>
                <a:ea typeface="Calibri"/>
                <a:cs typeface="Calibri"/>
                <a:sym typeface="Calibri"/>
              </a:rPr>
              <a:t>Auto-routed execution + portfolio monitor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6766560" y="521208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1426"/>
                </a:solidFill>
                <a:latin typeface="Calibri"/>
                <a:ea typeface="Calibri"/>
                <a:cs typeface="Calibri"/>
                <a:sym typeface="Calibri"/>
              </a:rPr>
              <a:t>Live APY, invested TVL, and risk score for every active position —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1426"/>
                </a:solidFill>
                <a:latin typeface="Calibri"/>
                <a:ea typeface="Calibri"/>
                <a:cs typeface="Calibri"/>
                <a:sym typeface="Calibri"/>
              </a:rPr>
              <a:t>rebalanced as the market moves.</a:t>
            </a:r>
            <a:endParaRPr/>
          </a:p>
        </p:txBody>
      </p:sp>
      <p:sp>
        <p:nvSpPr>
          <p:cNvPr id="223" name="Google Shape;223;p17"/>
          <p:cNvSpPr/>
          <p:nvPr/>
        </p:nvSpPr>
        <p:spPr>
          <a:xfrm>
            <a:off x="685800" y="6400800"/>
            <a:ext cx="1828800" cy="14287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Aegis-Intent  ·  DeFi yield, by intent.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685800" y="6473952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05 / 10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05  ·  THE RISK SCORE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685800" y="8686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How every pool earns its 0–2.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685800" y="1463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purely on-chain, math-only filter. No LLM. Runs in milliseconds across every chain we cover.</a:t>
            </a:r>
            <a:endParaRPr/>
          </a:p>
        </p:txBody>
      </p:sp>
      <p:sp>
        <p:nvSpPr>
          <p:cNvPr id="233" name="Google Shape;233;p18"/>
          <p:cNvSpPr/>
          <p:nvPr/>
        </p:nvSpPr>
        <p:spPr>
          <a:xfrm>
            <a:off x="685800" y="1920240"/>
            <a:ext cx="10789920" cy="714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685800" y="1920260"/>
            <a:ext cx="10789800" cy="822900"/>
          </a:xfrm>
          <a:prstGeom prst="roundRect">
            <a:avLst>
              <a:gd fmla="val 5000" name="adj"/>
            </a:avLst>
          </a:prstGeom>
          <a:solidFill>
            <a:srgbClr val="0B14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685800" y="2084852"/>
            <a:ext cx="1078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FORMULA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685800" y="2331740"/>
            <a:ext cx="1078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Point  =  ( Protocol Pts  +  TVL Quartile Pts )  ÷  100</a:t>
            </a:r>
            <a:endParaRPr/>
          </a:p>
        </p:txBody>
      </p:sp>
      <p:sp>
        <p:nvSpPr>
          <p:cNvPr id="237" name="Google Shape;237;p18"/>
          <p:cNvSpPr/>
          <p:nvPr/>
        </p:nvSpPr>
        <p:spPr>
          <a:xfrm>
            <a:off x="685800" y="2926100"/>
            <a:ext cx="5257800" cy="2469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685800" y="2926100"/>
            <a:ext cx="73200" cy="2469000"/>
          </a:xfrm>
          <a:prstGeom prst="rect">
            <a:avLst/>
          </a:prstGeom>
          <a:solidFill>
            <a:srgbClr val="05B8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1005840" y="3200420"/>
            <a:ext cx="4617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INPUT A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1005840" y="3493028"/>
            <a:ext cx="461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Protocol Points  ·  0–100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1005840" y="3977660"/>
            <a:ext cx="46176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Rank each protocol by TVL within its chain.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Top protocol = 100, then step down by 100 ÷ n.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1005840" y="4800619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#1 Jito</a:t>
            </a:r>
            <a:endParaRPr/>
          </a:p>
        </p:txBody>
      </p:sp>
      <p:sp>
        <p:nvSpPr>
          <p:cNvPr id="243" name="Google Shape;243;p18"/>
          <p:cNvSpPr/>
          <p:nvPr/>
        </p:nvSpPr>
        <p:spPr>
          <a:xfrm>
            <a:off x="2103120" y="4837195"/>
            <a:ext cx="2423100" cy="146400"/>
          </a:xfrm>
          <a:prstGeom prst="roundRect">
            <a:avLst>
              <a:gd fmla="val 40000" name="adj"/>
            </a:avLst>
          </a:prstGeom>
          <a:solidFill>
            <a:srgbClr val="05B8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>
            <a:off x="4617720" y="4800619"/>
            <a:ext cx="640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100 pts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1005840" y="4946923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#2 Kamino</a:t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2103120" y="4983499"/>
            <a:ext cx="1817400" cy="146400"/>
          </a:xfrm>
          <a:prstGeom prst="roundRect">
            <a:avLst>
              <a:gd fmla="val 40000" name="adj"/>
            </a:avLst>
          </a:prstGeom>
          <a:solidFill>
            <a:srgbClr val="05B8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4011930" y="4946923"/>
            <a:ext cx="640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75 pts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1005840" y="5093227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#3 Marinade</a:t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2103120" y="5129803"/>
            <a:ext cx="1211700" cy="146400"/>
          </a:xfrm>
          <a:prstGeom prst="roundRect">
            <a:avLst>
              <a:gd fmla="val 4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3406140" y="5093227"/>
            <a:ext cx="640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50 pts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1005840" y="5239531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#4 Drift</a:t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2103120" y="5276107"/>
            <a:ext cx="605700" cy="146400"/>
          </a:xfrm>
          <a:prstGeom prst="roundRect">
            <a:avLst>
              <a:gd fmla="val 4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2800350" y="5239531"/>
            <a:ext cx="640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25 pts</a:t>
            </a:r>
            <a:endParaRPr/>
          </a:p>
        </p:txBody>
      </p:sp>
      <p:sp>
        <p:nvSpPr>
          <p:cNvPr id="254" name="Google Shape;254;p18"/>
          <p:cNvSpPr/>
          <p:nvPr/>
        </p:nvSpPr>
        <p:spPr>
          <a:xfrm>
            <a:off x="6217920" y="2926100"/>
            <a:ext cx="5257800" cy="2469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6217920" y="2926100"/>
            <a:ext cx="73200" cy="2469000"/>
          </a:xfrm>
          <a:prstGeom prst="rect">
            <a:avLst/>
          </a:prstGeom>
          <a:solidFill>
            <a:srgbClr val="05B8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6537960" y="3200420"/>
            <a:ext cx="4617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INPUT B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6537960" y="3493028"/>
            <a:ext cx="461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TVL Quartile Points  ·  0–100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6537960" y="3977660"/>
            <a:ext cx="461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Where the pool ranks across the entire filtered universe by TVL.</a:t>
            </a:r>
            <a:endParaRPr/>
          </a:p>
        </p:txBody>
      </p:sp>
      <p:sp>
        <p:nvSpPr>
          <p:cNvPr id="259" name="Google Shape;259;p18"/>
          <p:cNvSpPr/>
          <p:nvPr/>
        </p:nvSpPr>
        <p:spPr>
          <a:xfrm>
            <a:off x="6537960" y="4617740"/>
            <a:ext cx="1086000" cy="594300"/>
          </a:xfrm>
          <a:prstGeom prst="roundRect">
            <a:avLst>
              <a:gd fmla="val 10000" name="adj"/>
            </a:avLst>
          </a:prstGeom>
          <a:solidFill>
            <a:srgbClr val="05B8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>
            <a:off x="6537960" y="4672604"/>
            <a:ext cx="1086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6537960" y="4873772"/>
            <a:ext cx="10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25%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>
            <a:off x="6537960" y="5010932"/>
            <a:ext cx="1086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 pts</a:t>
            </a:r>
            <a:endParaRPr/>
          </a:p>
        </p:txBody>
      </p:sp>
      <p:sp>
        <p:nvSpPr>
          <p:cNvPr id="263" name="Google Shape;263;p18"/>
          <p:cNvSpPr/>
          <p:nvPr/>
        </p:nvSpPr>
        <p:spPr>
          <a:xfrm>
            <a:off x="7715250" y="4617740"/>
            <a:ext cx="1086000" cy="594300"/>
          </a:xfrm>
          <a:prstGeom prst="roundRect">
            <a:avLst>
              <a:gd fmla="val 10000" name="adj"/>
            </a:avLst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 txBox="1"/>
          <p:nvPr/>
        </p:nvSpPr>
        <p:spPr>
          <a:xfrm>
            <a:off x="7715250" y="4672604"/>
            <a:ext cx="1086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426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7715250" y="4873772"/>
            <a:ext cx="10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B1426"/>
                </a:solidFill>
                <a:latin typeface="Calibri"/>
                <a:ea typeface="Calibri"/>
                <a:cs typeface="Calibri"/>
                <a:sym typeface="Calibri"/>
              </a:rPr>
              <a:t>25–50%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7715250" y="5010932"/>
            <a:ext cx="1086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B1426"/>
                </a:solidFill>
                <a:latin typeface="Calibri"/>
                <a:ea typeface="Calibri"/>
                <a:cs typeface="Calibri"/>
                <a:sym typeface="Calibri"/>
              </a:rPr>
              <a:t>75 pts</a:t>
            </a:r>
            <a:endParaRPr/>
          </a:p>
        </p:txBody>
      </p:sp>
      <p:sp>
        <p:nvSpPr>
          <p:cNvPr id="267" name="Google Shape;267;p18"/>
          <p:cNvSpPr/>
          <p:nvPr/>
        </p:nvSpPr>
        <p:spPr>
          <a:xfrm>
            <a:off x="8892540" y="4617740"/>
            <a:ext cx="1086000" cy="594300"/>
          </a:xfrm>
          <a:prstGeom prst="roundRect">
            <a:avLst>
              <a:gd fmla="val 1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8892540" y="4672604"/>
            <a:ext cx="1086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8892540" y="4873772"/>
            <a:ext cx="10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50–75%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8892540" y="5010932"/>
            <a:ext cx="1086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 pts</a:t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>
            <a:off x="10069830" y="4617740"/>
            <a:ext cx="1086000" cy="594300"/>
          </a:xfrm>
          <a:prstGeom prst="roundRect">
            <a:avLst>
              <a:gd fmla="val 1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 txBox="1"/>
          <p:nvPr/>
        </p:nvSpPr>
        <p:spPr>
          <a:xfrm>
            <a:off x="10069830" y="4672604"/>
            <a:ext cx="1086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10069830" y="4873772"/>
            <a:ext cx="10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Bottom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10069830" y="5010932"/>
            <a:ext cx="1086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 pts</a:t>
            </a:r>
            <a:endParaRPr/>
          </a:p>
        </p:txBody>
      </p:sp>
      <p:sp>
        <p:nvSpPr>
          <p:cNvPr id="275" name="Google Shape;275;p18"/>
          <p:cNvSpPr/>
          <p:nvPr/>
        </p:nvSpPr>
        <p:spPr>
          <a:xfrm>
            <a:off x="685800" y="5577860"/>
            <a:ext cx="6949500" cy="502800"/>
          </a:xfrm>
          <a:prstGeom prst="roundRect">
            <a:avLst>
              <a:gd fmla="val 180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 txBox="1"/>
          <p:nvPr/>
        </p:nvSpPr>
        <p:spPr>
          <a:xfrm>
            <a:off x="868680" y="5577860"/>
            <a:ext cx="6766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Pre-filter:  TVL &gt; $1M </a:t>
            </a:r>
            <a:endParaRPr sz="1500"/>
          </a:p>
        </p:txBody>
      </p:sp>
      <p:sp>
        <p:nvSpPr>
          <p:cNvPr id="277" name="Google Shape;277;p18"/>
          <p:cNvSpPr/>
          <p:nvPr/>
        </p:nvSpPr>
        <p:spPr>
          <a:xfrm>
            <a:off x="7818120" y="5577860"/>
            <a:ext cx="3657600" cy="502800"/>
          </a:xfrm>
          <a:prstGeom prst="roundRect">
            <a:avLst>
              <a:gd fmla="val 18000" name="adj"/>
            </a:avLst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 txBox="1"/>
          <p:nvPr/>
        </p:nvSpPr>
        <p:spPr>
          <a:xfrm>
            <a:off x="7818120" y="5753085"/>
            <a:ext cx="3657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426"/>
                </a:solidFill>
                <a:latin typeface="Calibri"/>
                <a:ea typeface="Calibri"/>
                <a:cs typeface="Calibri"/>
                <a:sym typeface="Calibri"/>
              </a:rPr>
              <a:t>Final range  ·  0.25  →  2.00  (higher = safer)</a:t>
            </a:r>
            <a:endParaRPr/>
          </a:p>
        </p:txBody>
      </p:sp>
      <p:sp>
        <p:nvSpPr>
          <p:cNvPr id="279" name="Google Shape;279;p18"/>
          <p:cNvSpPr txBox="1"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Aegis-Intent  ·  Hackathon Pitch</a:t>
            </a:r>
            <a:endParaRPr/>
          </a:p>
        </p:txBody>
      </p:sp>
      <p:sp>
        <p:nvSpPr>
          <p:cNvPr id="280" name="Google Shape;280;p18"/>
          <p:cNvSpPr txBox="1"/>
          <p:nvPr/>
        </p:nvSpPr>
        <p:spPr>
          <a:xfrm>
            <a:off x="685800" y="6510528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06 / 10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06  ·  THE RISK MATRIX</a:t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685800" y="86868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Five pillars. </a:t>
            </a:r>
            <a:r>
              <a:rPr b="1" lang="en-US" sz="26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i="0" lang="en-US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 points. One kill switch.</a:t>
            </a:r>
            <a:endParaRPr/>
          </a:p>
        </p:txBody>
      </p:sp>
      <p:sp>
        <p:nvSpPr>
          <p:cNvPr id="287" name="Google Shape;287;p19"/>
          <p:cNvSpPr txBox="1"/>
          <p:nvPr/>
        </p:nvSpPr>
        <p:spPr>
          <a:xfrm>
            <a:off x="685800" y="1463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protocol is scored 0–100 across five weighted dimensions before any deposit is allowed.</a:t>
            </a:r>
            <a:endParaRPr/>
          </a:p>
        </p:txBody>
      </p:sp>
      <p:sp>
        <p:nvSpPr>
          <p:cNvPr id="288" name="Google Shape;288;p19"/>
          <p:cNvSpPr/>
          <p:nvPr/>
        </p:nvSpPr>
        <p:spPr>
          <a:xfrm>
            <a:off x="672088" y="1783065"/>
            <a:ext cx="10789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672088" y="2057385"/>
            <a:ext cx="2031900" cy="3246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672088" y="2057385"/>
            <a:ext cx="2031900" cy="915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 txBox="1"/>
          <p:nvPr/>
        </p:nvSpPr>
        <p:spPr>
          <a:xfrm>
            <a:off x="900688" y="2313417"/>
            <a:ext cx="157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292" name="Google Shape;292;p19"/>
          <p:cNvSpPr txBox="1"/>
          <p:nvPr/>
        </p:nvSpPr>
        <p:spPr>
          <a:xfrm>
            <a:off x="900688" y="2587737"/>
            <a:ext cx="157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Smart Contract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900688" y="3264393"/>
            <a:ext cx="1574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 pts  ·  STATIC</a:t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900688" y="3611865"/>
            <a:ext cx="1574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 txBox="1"/>
          <p:nvPr/>
        </p:nvSpPr>
        <p:spPr>
          <a:xfrm>
            <a:off x="900688" y="3749025"/>
            <a:ext cx="45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1312168" y="3776457"/>
            <a:ext cx="11631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Mainnet &gt; 1yr, Tier-1 audit, active bug bounty</a:t>
            </a:r>
            <a:endParaRPr/>
          </a:p>
        </p:txBody>
      </p:sp>
      <p:sp>
        <p:nvSpPr>
          <p:cNvPr id="297" name="Google Shape;297;p19"/>
          <p:cNvSpPr txBox="1"/>
          <p:nvPr/>
        </p:nvSpPr>
        <p:spPr>
          <a:xfrm>
            <a:off x="900688" y="4480545"/>
            <a:ext cx="45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1312168" y="4507977"/>
            <a:ext cx="1163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Unaudited, anon team, or past exploit</a:t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2868476" y="2057385"/>
            <a:ext cx="2031900" cy="3246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2868476" y="2057385"/>
            <a:ext cx="2031900" cy="915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 txBox="1"/>
          <p:nvPr/>
        </p:nvSpPr>
        <p:spPr>
          <a:xfrm>
            <a:off x="3097076" y="2313417"/>
            <a:ext cx="157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3097076" y="2587737"/>
            <a:ext cx="157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Liquidity &amp; Volatility</a:t>
            </a:r>
            <a:endParaRPr/>
          </a:p>
        </p:txBody>
      </p:sp>
      <p:sp>
        <p:nvSpPr>
          <p:cNvPr id="303" name="Google Shape;303;p19"/>
          <p:cNvSpPr txBox="1"/>
          <p:nvPr/>
        </p:nvSpPr>
        <p:spPr>
          <a:xfrm>
            <a:off x="3097076" y="3264393"/>
            <a:ext cx="1574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 pts  ·  DYNAMIC</a:t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3097076" y="3611865"/>
            <a:ext cx="1574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 txBox="1"/>
          <p:nvPr/>
        </p:nvSpPr>
        <p:spPr>
          <a:xfrm>
            <a:off x="3097076" y="3749025"/>
            <a:ext cx="45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3508556" y="3776457"/>
            <a:ext cx="11631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TVL &gt; $10M, utilization &lt; 85% (or max drawdown &lt; 2%)</a:t>
            </a:r>
            <a:endParaRPr/>
          </a:p>
        </p:txBody>
      </p:sp>
      <p:sp>
        <p:nvSpPr>
          <p:cNvPr id="307" name="Google Shape;307;p19"/>
          <p:cNvSpPr txBox="1"/>
          <p:nvPr/>
        </p:nvSpPr>
        <p:spPr>
          <a:xfrm>
            <a:off x="3097076" y="4480545"/>
            <a:ext cx="45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08" name="Google Shape;308;p19"/>
          <p:cNvSpPr txBox="1"/>
          <p:nvPr/>
        </p:nvSpPr>
        <p:spPr>
          <a:xfrm>
            <a:off x="3508556" y="4507977"/>
            <a:ext cx="11631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TVL &lt; $1M, utilization &gt; 95%, or capital flight &gt; 20%</a:t>
            </a: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5064865" y="2057385"/>
            <a:ext cx="2031900" cy="3246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5064865" y="2057385"/>
            <a:ext cx="2031900" cy="915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 txBox="1"/>
          <p:nvPr/>
        </p:nvSpPr>
        <p:spPr>
          <a:xfrm>
            <a:off x="5293464" y="2313417"/>
            <a:ext cx="157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312" name="Google Shape;312;p19"/>
          <p:cNvSpPr txBox="1"/>
          <p:nvPr/>
        </p:nvSpPr>
        <p:spPr>
          <a:xfrm>
            <a:off x="5293464" y="2587737"/>
            <a:ext cx="1574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Operator &amp; Counterparty</a:t>
            </a:r>
            <a:endParaRPr/>
          </a:p>
        </p:txBody>
      </p:sp>
      <p:sp>
        <p:nvSpPr>
          <p:cNvPr id="313" name="Google Shape;313;p19"/>
          <p:cNvSpPr txBox="1"/>
          <p:nvPr/>
        </p:nvSpPr>
        <p:spPr>
          <a:xfrm>
            <a:off x="5293464" y="3264393"/>
            <a:ext cx="1574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 pts  ·  DYNAMIC</a:t>
            </a:r>
            <a:endParaRPr/>
          </a:p>
        </p:txBody>
      </p:sp>
      <p:sp>
        <p:nvSpPr>
          <p:cNvPr id="314" name="Google Shape;314;p19"/>
          <p:cNvSpPr/>
          <p:nvPr/>
        </p:nvSpPr>
        <p:spPr>
          <a:xfrm>
            <a:off x="5293464" y="3611865"/>
            <a:ext cx="1574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 txBox="1"/>
          <p:nvPr/>
        </p:nvSpPr>
        <p:spPr>
          <a:xfrm>
            <a:off x="5293465" y="3749025"/>
            <a:ext cx="45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16" name="Google Shape;316;p19"/>
          <p:cNvSpPr txBox="1"/>
          <p:nvPr/>
        </p:nvSpPr>
        <p:spPr>
          <a:xfrm>
            <a:off x="5704944" y="3776457"/>
            <a:ext cx="11631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DAO + timelock, or on-chain proof of reserve</a:t>
            </a: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5293465" y="4480545"/>
            <a:ext cx="45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18" name="Google Shape;318;p19"/>
          <p:cNvSpPr txBox="1"/>
          <p:nvPr/>
        </p:nvSpPr>
        <p:spPr>
          <a:xfrm>
            <a:off x="5704944" y="4507977"/>
            <a:ext cx="11631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EOA / anon admin, custodian failure, or node slashed</a:t>
            </a:r>
            <a:endParaRPr/>
          </a:p>
        </p:txBody>
      </p:sp>
      <p:sp>
        <p:nvSpPr>
          <p:cNvPr id="319" name="Google Shape;319;p19"/>
          <p:cNvSpPr/>
          <p:nvPr/>
        </p:nvSpPr>
        <p:spPr>
          <a:xfrm>
            <a:off x="7261254" y="2057385"/>
            <a:ext cx="2031900" cy="3246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7261254" y="2057385"/>
            <a:ext cx="2031900" cy="91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 txBox="1"/>
          <p:nvPr/>
        </p:nvSpPr>
        <p:spPr>
          <a:xfrm>
            <a:off x="7489854" y="2313417"/>
            <a:ext cx="157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322" name="Google Shape;322;p19"/>
          <p:cNvSpPr txBox="1"/>
          <p:nvPr/>
        </p:nvSpPr>
        <p:spPr>
          <a:xfrm>
            <a:off x="7489854" y="2587737"/>
            <a:ext cx="157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Semantic &amp; Macro</a:t>
            </a:r>
            <a:endParaRPr/>
          </a:p>
        </p:txBody>
      </p:sp>
      <p:sp>
        <p:nvSpPr>
          <p:cNvPr id="323" name="Google Shape;323;p19"/>
          <p:cNvSpPr txBox="1"/>
          <p:nvPr/>
        </p:nvSpPr>
        <p:spPr>
          <a:xfrm>
            <a:off x="7489854" y="3264393"/>
            <a:ext cx="1574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20 pts  ·  KILL SWITCH</a:t>
            </a:r>
            <a:endParaRPr/>
          </a:p>
        </p:txBody>
      </p:sp>
      <p:sp>
        <p:nvSpPr>
          <p:cNvPr id="324" name="Google Shape;324;p19"/>
          <p:cNvSpPr/>
          <p:nvPr/>
        </p:nvSpPr>
        <p:spPr>
          <a:xfrm>
            <a:off x="7489854" y="3611865"/>
            <a:ext cx="1574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 txBox="1"/>
          <p:nvPr/>
        </p:nvSpPr>
        <p:spPr>
          <a:xfrm>
            <a:off x="7489854" y="3749025"/>
            <a:ext cx="45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26" name="Google Shape;326;p19"/>
          <p:cNvSpPr txBox="1"/>
          <p:nvPr/>
        </p:nvSpPr>
        <p:spPr>
          <a:xfrm>
            <a:off x="7901334" y="3776457"/>
            <a:ext cx="1163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Positive / neutral news context</a:t>
            </a:r>
            <a:endParaRPr/>
          </a:p>
        </p:txBody>
      </p:sp>
      <p:sp>
        <p:nvSpPr>
          <p:cNvPr id="327" name="Google Shape;327;p19"/>
          <p:cNvSpPr txBox="1"/>
          <p:nvPr/>
        </p:nvSpPr>
        <p:spPr>
          <a:xfrm>
            <a:off x="7489854" y="4480545"/>
            <a:ext cx="45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28" name="Google Shape;328;p19"/>
          <p:cNvSpPr txBox="1"/>
          <p:nvPr/>
        </p:nvSpPr>
        <p:spPr>
          <a:xfrm>
            <a:off x="7901334" y="4507977"/>
            <a:ext cx="11631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“Hack”, “Exploit”, “Depeg”, “SEC Lawsuit”, “Bankrupt”, “Breach”</a:t>
            </a:r>
            <a:endParaRPr/>
          </a:p>
        </p:txBody>
      </p:sp>
      <p:sp>
        <p:nvSpPr>
          <p:cNvPr id="329" name="Google Shape;329;p19"/>
          <p:cNvSpPr/>
          <p:nvPr/>
        </p:nvSpPr>
        <p:spPr>
          <a:xfrm>
            <a:off x="9457643" y="2057385"/>
            <a:ext cx="2031900" cy="3246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9457643" y="2057385"/>
            <a:ext cx="2031900" cy="915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9"/>
          <p:cNvSpPr txBox="1"/>
          <p:nvPr/>
        </p:nvSpPr>
        <p:spPr>
          <a:xfrm>
            <a:off x="9686243" y="2313417"/>
            <a:ext cx="157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332" name="Google Shape;332;p19"/>
          <p:cNvSpPr txBox="1"/>
          <p:nvPr/>
        </p:nvSpPr>
        <p:spPr>
          <a:xfrm>
            <a:off x="9686243" y="2587737"/>
            <a:ext cx="157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Yield Justification</a:t>
            </a:r>
            <a:endParaRPr/>
          </a:p>
        </p:txBody>
      </p:sp>
      <p:sp>
        <p:nvSpPr>
          <p:cNvPr id="333" name="Google Shape;333;p19"/>
          <p:cNvSpPr txBox="1"/>
          <p:nvPr/>
        </p:nvSpPr>
        <p:spPr>
          <a:xfrm>
            <a:off x="9686243" y="3264393"/>
            <a:ext cx="1574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 pts  ·  STATIC</a:t>
            </a:r>
            <a:endParaRPr/>
          </a:p>
        </p:txBody>
      </p:sp>
      <p:sp>
        <p:nvSpPr>
          <p:cNvPr id="334" name="Google Shape;334;p19"/>
          <p:cNvSpPr/>
          <p:nvPr/>
        </p:nvSpPr>
        <p:spPr>
          <a:xfrm>
            <a:off x="9686243" y="3611865"/>
            <a:ext cx="1574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 txBox="1"/>
          <p:nvPr/>
        </p:nvSpPr>
        <p:spPr>
          <a:xfrm>
            <a:off x="9686243" y="3749025"/>
            <a:ext cx="45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36" name="Google Shape;336;p19"/>
          <p:cNvSpPr txBox="1"/>
          <p:nvPr/>
        </p:nvSpPr>
        <p:spPr>
          <a:xfrm>
            <a:off x="10097723" y="3776457"/>
            <a:ext cx="1163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APY 5–15% from real yield (fees, interest)</a:t>
            </a:r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9686243" y="4480545"/>
            <a:ext cx="45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38" name="Google Shape;338;p19"/>
          <p:cNvSpPr txBox="1"/>
          <p:nvPr/>
        </p:nvSpPr>
        <p:spPr>
          <a:xfrm>
            <a:off x="10097723" y="4507977"/>
            <a:ext cx="11631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APY &gt; 50% or unclear mechanics (Ponzi / yield trap)</a:t>
            </a:r>
            <a:endParaRPr/>
          </a:p>
        </p:txBody>
      </p:sp>
      <p:sp>
        <p:nvSpPr>
          <p:cNvPr id="339" name="Google Shape;339;p19"/>
          <p:cNvSpPr/>
          <p:nvPr/>
        </p:nvSpPr>
        <p:spPr>
          <a:xfrm>
            <a:off x="672088" y="5577825"/>
            <a:ext cx="6474000" cy="502800"/>
          </a:xfrm>
          <a:prstGeom prst="roundRect">
            <a:avLst>
              <a:gd fmla="val 18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7146040" y="5577825"/>
            <a:ext cx="2157900" cy="50280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9304024" y="5577825"/>
            <a:ext cx="2157900" cy="502800"/>
          </a:xfrm>
          <a:prstGeom prst="roundRect">
            <a:avLst>
              <a:gd fmla="val 18000" name="adj"/>
            </a:avLst>
          </a:prstGeom>
          <a:solidFill>
            <a:srgbClr val="05B8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672013" y="5733175"/>
            <a:ext cx="647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REJECT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·  Score &lt; 60   OR   Pillar 4 = 0  (KILL SWITCH)</a:t>
            </a:r>
            <a:endParaRPr/>
          </a:p>
        </p:txBody>
      </p:sp>
      <p:sp>
        <p:nvSpPr>
          <p:cNvPr id="343" name="Google Shape;343;p19"/>
          <p:cNvSpPr txBox="1"/>
          <p:nvPr/>
        </p:nvSpPr>
        <p:spPr>
          <a:xfrm>
            <a:off x="7209075" y="5746025"/>
            <a:ext cx="203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WARNING  ·  60–79</a:t>
            </a:r>
            <a:endParaRPr/>
          </a:p>
        </p:txBody>
      </p:sp>
      <p:sp>
        <p:nvSpPr>
          <p:cNvPr id="344" name="Google Shape;344;p19"/>
          <p:cNvSpPr txBox="1"/>
          <p:nvPr/>
        </p:nvSpPr>
        <p:spPr>
          <a:xfrm>
            <a:off x="9303949" y="5740325"/>
            <a:ext cx="215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  ·  ≥ 80</a:t>
            </a:r>
            <a:endParaRPr/>
          </a:p>
        </p:txBody>
      </p:sp>
      <p:sp>
        <p:nvSpPr>
          <p:cNvPr id="345" name="Google Shape;345;p19"/>
          <p:cNvSpPr txBox="1"/>
          <p:nvPr/>
        </p:nvSpPr>
        <p:spPr>
          <a:xfrm>
            <a:off x="672088" y="6126465"/>
            <a:ext cx="457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46" name="Google Shape;346;p19"/>
          <p:cNvSpPr txBox="1"/>
          <p:nvPr/>
        </p:nvSpPr>
        <p:spPr>
          <a:xfrm>
            <a:off x="6917440" y="6126465"/>
            <a:ext cx="457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9075424" y="6126465"/>
            <a:ext cx="457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sp>
        <p:nvSpPr>
          <p:cNvPr id="348" name="Google Shape;348;p19"/>
          <p:cNvSpPr txBox="1"/>
          <p:nvPr/>
        </p:nvSpPr>
        <p:spPr>
          <a:xfrm>
            <a:off x="11004808" y="6126465"/>
            <a:ext cx="457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sp>
        <p:nvSpPr>
          <p:cNvPr id="349" name="Google Shape;349;p19"/>
          <p:cNvSpPr txBox="1"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Aegis-Intent  ·  Hackathon Pitch</a:t>
            </a:r>
            <a:endParaRPr/>
          </a:p>
        </p:txBody>
      </p:sp>
      <p:sp>
        <p:nvSpPr>
          <p:cNvPr id="350" name="Google Shape;350;p19"/>
          <p:cNvSpPr txBox="1"/>
          <p:nvPr/>
        </p:nvSpPr>
        <p:spPr>
          <a:xfrm>
            <a:off x="685800" y="6510528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07 / 10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0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07  ·  UX FLOW</a:t>
            </a:r>
            <a:endParaRPr/>
          </a:p>
        </p:txBody>
      </p:sp>
      <p:sp>
        <p:nvSpPr>
          <p:cNvPr id="356" name="Google Shape;356;p20"/>
          <p:cNvSpPr txBox="1"/>
          <p:nvPr/>
        </p:nvSpPr>
        <p:spPr>
          <a:xfrm>
            <a:off x="685800" y="8686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From landing to executed strategy.</a:t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685800" y="1344430"/>
            <a:ext cx="10789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4417976" y="1455547"/>
            <a:ext cx="2286000" cy="502800"/>
          </a:xfrm>
          <a:prstGeom prst="roundRect">
            <a:avLst>
              <a:gd fmla="val 18000" name="adj"/>
            </a:avLst>
          </a:prstGeom>
          <a:solidFill>
            <a:srgbClr val="0B1426"/>
          </a:solidFill>
          <a:ln cap="flat" cmpd="sng" w="9525">
            <a:solidFill>
              <a:srgbClr val="0B14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 txBox="1"/>
          <p:nvPr/>
        </p:nvSpPr>
        <p:spPr>
          <a:xfrm>
            <a:off x="4509416" y="1455547"/>
            <a:ext cx="210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opens Aegis-Intent</a:t>
            </a:r>
            <a:endParaRPr/>
          </a:p>
        </p:txBody>
      </p:sp>
      <p:sp>
        <p:nvSpPr>
          <p:cNvPr id="360" name="Google Shape;360;p20"/>
          <p:cNvSpPr/>
          <p:nvPr/>
        </p:nvSpPr>
        <p:spPr>
          <a:xfrm>
            <a:off x="4189376" y="2187068"/>
            <a:ext cx="2743200" cy="50280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 txBox="1"/>
          <p:nvPr/>
        </p:nvSpPr>
        <p:spPr>
          <a:xfrm>
            <a:off x="4280816" y="2187068"/>
            <a:ext cx="2560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“What asset do you want to hold?”</a:t>
            </a:r>
            <a:endParaRPr/>
          </a:p>
        </p:txBody>
      </p:sp>
      <p:sp>
        <p:nvSpPr>
          <p:cNvPr id="362" name="Google Shape;362;p20"/>
          <p:cNvSpPr/>
          <p:nvPr/>
        </p:nvSpPr>
        <p:spPr>
          <a:xfrm>
            <a:off x="655220" y="3010028"/>
            <a:ext cx="2560200" cy="685800"/>
          </a:xfrm>
          <a:prstGeom prst="roundRect">
            <a:avLst>
              <a:gd fmla="val 18000" name="adj"/>
            </a:avLst>
          </a:prstGeom>
          <a:solidFill>
            <a:srgbClr val="06D6A0"/>
          </a:solidFill>
          <a:ln cap="flat" cmpd="sng" w="9525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746660" y="3119756"/>
            <a:ext cx="237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426"/>
                </a:solidFill>
                <a:latin typeface="Calibri"/>
                <a:ea typeface="Calibri"/>
                <a:cs typeface="Calibri"/>
                <a:sym typeface="Calibri"/>
              </a:rPr>
              <a:t>Stable Strategies Dashboard</a:t>
            </a:r>
            <a:endParaRPr/>
          </a:p>
        </p:txBody>
      </p:sp>
      <p:sp>
        <p:nvSpPr>
          <p:cNvPr id="364" name="Google Shape;364;p20"/>
          <p:cNvSpPr txBox="1"/>
          <p:nvPr/>
        </p:nvSpPr>
        <p:spPr>
          <a:xfrm>
            <a:off x="746935" y="3400408"/>
            <a:ext cx="2377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B1426"/>
                </a:solidFill>
                <a:latin typeface="Calibri"/>
                <a:ea typeface="Calibri"/>
                <a:cs typeface="Calibri"/>
                <a:sym typeface="Calibri"/>
              </a:rPr>
              <a:t>Ranked by APY × TVL × Risk Point</a:t>
            </a:r>
            <a:endParaRPr/>
          </a:p>
        </p:txBody>
      </p:sp>
      <p:sp>
        <p:nvSpPr>
          <p:cNvPr id="365" name="Google Shape;365;p20"/>
          <p:cNvSpPr/>
          <p:nvPr/>
        </p:nvSpPr>
        <p:spPr>
          <a:xfrm>
            <a:off x="6873140" y="3010028"/>
            <a:ext cx="2926200" cy="68580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0"/>
          <p:cNvSpPr txBox="1"/>
          <p:nvPr/>
        </p:nvSpPr>
        <p:spPr>
          <a:xfrm>
            <a:off x="6964580" y="3119756"/>
            <a:ext cx="2743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“Which specific asset?”</a:t>
            </a:r>
            <a:endParaRPr/>
          </a:p>
        </p:txBody>
      </p:sp>
      <p:sp>
        <p:nvSpPr>
          <p:cNvPr id="367" name="Google Shape;367;p20"/>
          <p:cNvSpPr txBox="1"/>
          <p:nvPr/>
        </p:nvSpPr>
        <p:spPr>
          <a:xfrm>
            <a:off x="6964880" y="3423108"/>
            <a:ext cx="2743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BTC · ETH · SOL · MON · SUI</a:t>
            </a:r>
            <a:endParaRPr/>
          </a:p>
        </p:txBody>
      </p:sp>
      <p:sp>
        <p:nvSpPr>
          <p:cNvPr id="368" name="Google Shape;368;p20"/>
          <p:cNvSpPr/>
          <p:nvPr/>
        </p:nvSpPr>
        <p:spPr>
          <a:xfrm>
            <a:off x="6873140" y="4015868"/>
            <a:ext cx="2926200" cy="50280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 txBox="1"/>
          <p:nvPr/>
        </p:nvSpPr>
        <p:spPr>
          <a:xfrm>
            <a:off x="6964580" y="4015868"/>
            <a:ext cx="2743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“Full position, or partial?”</a:t>
            </a:r>
            <a:endParaRPr/>
          </a:p>
        </p:txBody>
      </p:sp>
      <p:sp>
        <p:nvSpPr>
          <p:cNvPr id="370" name="Google Shape;370;p20"/>
          <p:cNvSpPr/>
          <p:nvPr/>
        </p:nvSpPr>
        <p:spPr>
          <a:xfrm>
            <a:off x="5318660" y="4930268"/>
            <a:ext cx="2194500" cy="685800"/>
          </a:xfrm>
          <a:prstGeom prst="roundRect">
            <a:avLst>
              <a:gd fmla="val 18000" name="adj"/>
            </a:avLst>
          </a:prstGeom>
          <a:solidFill>
            <a:srgbClr val="06D6A0"/>
          </a:solidFill>
          <a:ln cap="flat" cmpd="sng" w="9525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5410100" y="5039996"/>
            <a:ext cx="2011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426"/>
                </a:solidFill>
                <a:latin typeface="Calibri"/>
                <a:ea typeface="Calibri"/>
                <a:cs typeface="Calibri"/>
                <a:sym typeface="Calibri"/>
              </a:rPr>
              <a:t>LP Pools</a:t>
            </a:r>
            <a:endParaRPr/>
          </a:p>
        </p:txBody>
      </p:sp>
      <p:sp>
        <p:nvSpPr>
          <p:cNvPr id="372" name="Google Shape;372;p20"/>
          <p:cNvSpPr txBox="1"/>
          <p:nvPr/>
        </p:nvSpPr>
        <p:spPr>
          <a:xfrm>
            <a:off x="5410000" y="5306748"/>
            <a:ext cx="2011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B1426"/>
                </a:solidFill>
                <a:latin typeface="Calibri"/>
                <a:ea typeface="Calibri"/>
                <a:cs typeface="Calibri"/>
                <a:sym typeface="Calibri"/>
              </a:rPr>
              <a:t>Asset + stable pair  ·  partial exposure</a:t>
            </a:r>
            <a:endParaRPr/>
          </a:p>
        </p:txBody>
      </p:sp>
      <p:sp>
        <p:nvSpPr>
          <p:cNvPr id="373" name="Google Shape;373;p20"/>
          <p:cNvSpPr/>
          <p:nvPr/>
        </p:nvSpPr>
        <p:spPr>
          <a:xfrm>
            <a:off x="8976260" y="4930268"/>
            <a:ext cx="2560200" cy="685800"/>
          </a:xfrm>
          <a:prstGeom prst="roundRect">
            <a:avLst>
              <a:gd fmla="val 18000" name="adj"/>
            </a:avLst>
          </a:prstGeom>
          <a:solidFill>
            <a:srgbClr val="06D6A0"/>
          </a:solidFill>
          <a:ln cap="flat" cmpd="sng" w="9525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9067700" y="5039996"/>
            <a:ext cx="237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1426"/>
                </a:solidFill>
                <a:latin typeface="Calibri"/>
                <a:ea typeface="Calibri"/>
                <a:cs typeface="Calibri"/>
                <a:sym typeface="Calibri"/>
              </a:rPr>
              <a:t>Lending · Staking · Single-Sided</a:t>
            </a:r>
            <a:endParaRPr/>
          </a:p>
        </p:txBody>
      </p:sp>
      <p:sp>
        <p:nvSpPr>
          <p:cNvPr id="375" name="Google Shape;375;p20"/>
          <p:cNvSpPr txBox="1"/>
          <p:nvPr/>
        </p:nvSpPr>
        <p:spPr>
          <a:xfrm>
            <a:off x="9067600" y="5318961"/>
            <a:ext cx="23775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B1426"/>
                </a:solidFill>
                <a:latin typeface="Calibri"/>
                <a:ea typeface="Calibri"/>
                <a:cs typeface="Calibri"/>
                <a:sym typeface="Calibri"/>
              </a:rPr>
              <a:t>Maximize yield on full asset position</a:t>
            </a:r>
            <a:endParaRPr/>
          </a:p>
        </p:txBody>
      </p:sp>
      <p:sp>
        <p:nvSpPr>
          <p:cNvPr id="376" name="Google Shape;376;p20"/>
          <p:cNvSpPr/>
          <p:nvPr/>
        </p:nvSpPr>
        <p:spPr>
          <a:xfrm>
            <a:off x="3032601" y="5969503"/>
            <a:ext cx="5029200" cy="502800"/>
          </a:xfrm>
          <a:prstGeom prst="roundRect">
            <a:avLst>
              <a:gd fmla="val 18000" name="adj"/>
            </a:avLst>
          </a:prstGeom>
          <a:solidFill>
            <a:srgbClr val="0B1426"/>
          </a:solidFill>
          <a:ln cap="flat" cmpd="sng" w="9525">
            <a:solidFill>
              <a:srgbClr val="0B14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 txBox="1"/>
          <p:nvPr/>
        </p:nvSpPr>
        <p:spPr>
          <a:xfrm>
            <a:off x="3124091" y="6123965"/>
            <a:ext cx="484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Execute  →  Portfolio Monitor  ·  live APY · TVL · Risk</a:t>
            </a:r>
            <a:endParaRPr/>
          </a:p>
        </p:txBody>
      </p:sp>
      <p:cxnSp>
        <p:nvCxnSpPr>
          <p:cNvPr id="378" name="Google Shape;378;p20"/>
          <p:cNvCxnSpPr/>
          <p:nvPr/>
        </p:nvCxnSpPr>
        <p:spPr>
          <a:xfrm flipH="1" rot="-5400000">
            <a:off x="5446976" y="2072467"/>
            <a:ext cx="2286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79" name="Google Shape;379;p20"/>
          <p:cNvCxnSpPr/>
          <p:nvPr/>
        </p:nvCxnSpPr>
        <p:spPr>
          <a:xfrm flipH="1" rot="-5400000">
            <a:off x="5504126" y="2746838"/>
            <a:ext cx="1143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80" name="Google Shape;380;p20"/>
          <p:cNvCxnSpPr/>
          <p:nvPr/>
        </p:nvCxnSpPr>
        <p:spPr>
          <a:xfrm flipH="1">
            <a:off x="1935476" y="2804288"/>
            <a:ext cx="36255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81" name="Google Shape;381;p20"/>
          <p:cNvCxnSpPr/>
          <p:nvPr/>
        </p:nvCxnSpPr>
        <p:spPr>
          <a:xfrm>
            <a:off x="5560976" y="2804288"/>
            <a:ext cx="27753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82" name="Google Shape;382;p20"/>
          <p:cNvCxnSpPr/>
          <p:nvPr/>
        </p:nvCxnSpPr>
        <p:spPr>
          <a:xfrm flipH="1" rot="-5400000">
            <a:off x="1832780" y="2906888"/>
            <a:ext cx="2058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83" name="Google Shape;383;p20"/>
          <p:cNvCxnSpPr/>
          <p:nvPr/>
        </p:nvCxnSpPr>
        <p:spPr>
          <a:xfrm flipH="1" rot="-5400000">
            <a:off x="8233580" y="2906888"/>
            <a:ext cx="2058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84" name="Google Shape;384;p20"/>
          <p:cNvSpPr/>
          <p:nvPr/>
        </p:nvSpPr>
        <p:spPr>
          <a:xfrm>
            <a:off x="3153818" y="2708276"/>
            <a:ext cx="1188600" cy="1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 txBox="1"/>
          <p:nvPr/>
        </p:nvSpPr>
        <p:spPr>
          <a:xfrm>
            <a:off x="3108098" y="2685416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STABLE</a:t>
            </a:r>
            <a:endParaRPr/>
          </a:p>
        </p:txBody>
      </p:sp>
      <p:sp>
        <p:nvSpPr>
          <p:cNvPr id="386" name="Google Shape;386;p20"/>
          <p:cNvSpPr/>
          <p:nvPr/>
        </p:nvSpPr>
        <p:spPr>
          <a:xfrm>
            <a:off x="6354217" y="2708276"/>
            <a:ext cx="1188600" cy="1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 txBox="1"/>
          <p:nvPr/>
        </p:nvSpPr>
        <p:spPr>
          <a:xfrm>
            <a:off x="6308497" y="2685416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VOLATILE</a:t>
            </a:r>
            <a:endParaRPr/>
          </a:p>
        </p:txBody>
      </p:sp>
      <p:cxnSp>
        <p:nvCxnSpPr>
          <p:cNvPr id="388" name="Google Shape;388;p20"/>
          <p:cNvCxnSpPr/>
          <p:nvPr/>
        </p:nvCxnSpPr>
        <p:spPr>
          <a:xfrm flipH="1" rot="-5400000">
            <a:off x="8176430" y="3855577"/>
            <a:ext cx="3201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89" name="Google Shape;389;p20"/>
          <p:cNvCxnSpPr/>
          <p:nvPr/>
        </p:nvCxnSpPr>
        <p:spPr>
          <a:xfrm flipH="1" rot="-5400000">
            <a:off x="8256530" y="4598438"/>
            <a:ext cx="1599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0" name="Google Shape;390;p20"/>
          <p:cNvCxnSpPr/>
          <p:nvPr/>
        </p:nvCxnSpPr>
        <p:spPr>
          <a:xfrm flipH="1">
            <a:off x="6415880" y="4678808"/>
            <a:ext cx="19203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1" name="Google Shape;391;p20"/>
          <p:cNvCxnSpPr/>
          <p:nvPr/>
        </p:nvCxnSpPr>
        <p:spPr>
          <a:xfrm>
            <a:off x="8336180" y="4678808"/>
            <a:ext cx="19203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2" name="Google Shape;392;p20"/>
          <p:cNvCxnSpPr/>
          <p:nvPr/>
        </p:nvCxnSpPr>
        <p:spPr>
          <a:xfrm flipH="1" rot="-5400000">
            <a:off x="6290540" y="4804208"/>
            <a:ext cx="2514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3" name="Google Shape;393;p20"/>
          <p:cNvCxnSpPr/>
          <p:nvPr/>
        </p:nvCxnSpPr>
        <p:spPr>
          <a:xfrm flipH="1" rot="-5400000">
            <a:off x="10131020" y="4804208"/>
            <a:ext cx="2514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94" name="Google Shape;394;p20"/>
          <p:cNvSpPr/>
          <p:nvPr/>
        </p:nvSpPr>
        <p:spPr>
          <a:xfrm>
            <a:off x="6827419" y="4582795"/>
            <a:ext cx="1097400" cy="1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0"/>
          <p:cNvSpPr txBox="1"/>
          <p:nvPr/>
        </p:nvSpPr>
        <p:spPr>
          <a:xfrm>
            <a:off x="6781699" y="4559936"/>
            <a:ext cx="1188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/>
          </a:p>
        </p:txBody>
      </p:sp>
      <p:sp>
        <p:nvSpPr>
          <p:cNvPr id="396" name="Google Shape;396;p20"/>
          <p:cNvSpPr/>
          <p:nvPr/>
        </p:nvSpPr>
        <p:spPr>
          <a:xfrm>
            <a:off x="8747660" y="4582795"/>
            <a:ext cx="1097400" cy="1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0"/>
          <p:cNvSpPr txBox="1"/>
          <p:nvPr/>
        </p:nvSpPr>
        <p:spPr>
          <a:xfrm>
            <a:off x="8701940" y="4559936"/>
            <a:ext cx="1188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B88A"/>
                </a:solidFill>
                <a:latin typeface="Calibri"/>
                <a:ea typeface="Calibri"/>
                <a:cs typeface="Calibri"/>
                <a:sym typeface="Calibri"/>
              </a:rPr>
              <a:t>FULL</a:t>
            </a:r>
            <a:endParaRPr/>
          </a:p>
        </p:txBody>
      </p:sp>
      <p:cxnSp>
        <p:nvCxnSpPr>
          <p:cNvPr id="398" name="Google Shape;398;p20"/>
          <p:cNvCxnSpPr/>
          <p:nvPr/>
        </p:nvCxnSpPr>
        <p:spPr>
          <a:xfrm flipH="1" rot="-5400000">
            <a:off x="941330" y="4689877"/>
            <a:ext cx="1988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9" name="Google Shape;399;p20"/>
          <p:cNvCxnSpPr/>
          <p:nvPr/>
        </p:nvCxnSpPr>
        <p:spPr>
          <a:xfrm flipH="1" rot="-5400000">
            <a:off x="6381890" y="5650118"/>
            <a:ext cx="68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00" name="Google Shape;400;p20"/>
          <p:cNvCxnSpPr/>
          <p:nvPr/>
        </p:nvCxnSpPr>
        <p:spPr>
          <a:xfrm flipH="1" rot="-5400000">
            <a:off x="10222370" y="5650118"/>
            <a:ext cx="68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01" name="Google Shape;401;p20"/>
          <p:cNvCxnSpPr/>
          <p:nvPr/>
        </p:nvCxnSpPr>
        <p:spPr>
          <a:xfrm>
            <a:off x="1935380" y="5684647"/>
            <a:ext cx="83211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02" name="Google Shape;402;p20"/>
          <p:cNvCxnSpPr/>
          <p:nvPr/>
        </p:nvCxnSpPr>
        <p:spPr>
          <a:xfrm flipH="1" rot="-5400000">
            <a:off x="5439176" y="5806447"/>
            <a:ext cx="245100" cy="15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03" name="Google Shape;403;p20"/>
          <p:cNvSpPr txBox="1"/>
          <p:nvPr/>
        </p:nvSpPr>
        <p:spPr>
          <a:xfrm>
            <a:off x="685800" y="6510528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Aegis-Intent  ·  Hackathon Pitch</a:t>
            </a:r>
            <a:endParaRPr/>
          </a:p>
        </p:txBody>
      </p:sp>
      <p:sp>
        <p:nvSpPr>
          <p:cNvPr id="404" name="Google Shape;404;p20"/>
          <p:cNvSpPr txBox="1"/>
          <p:nvPr/>
        </p:nvSpPr>
        <p:spPr>
          <a:xfrm>
            <a:off x="685800" y="6510528"/>
            <a:ext cx="10789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08 / 10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1"/>
          <p:cNvSpPr/>
          <p:nvPr/>
        </p:nvSpPr>
        <p:spPr>
          <a:xfrm>
            <a:off x="-25" y="0"/>
            <a:ext cx="12191700" cy="6858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08  ·  BUSINESS MODEL</a:t>
            </a:r>
            <a:endParaRPr/>
          </a:p>
        </p:txBody>
      </p:sp>
      <p:sp>
        <p:nvSpPr>
          <p:cNvPr id="411" name="Google Shape;411;p21"/>
          <p:cNvSpPr txBox="1"/>
          <p:nvPr/>
        </p:nvSpPr>
        <p:spPr>
          <a:xfrm>
            <a:off x="685800" y="8686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Four revenue streams. One pipeline.</a:t>
            </a:r>
            <a:endParaRPr/>
          </a:p>
        </p:txBody>
      </p:sp>
      <p:sp>
        <p:nvSpPr>
          <p:cNvPr id="412" name="Google Shape;412;p21"/>
          <p:cNvSpPr txBox="1"/>
          <p:nvPr/>
        </p:nvSpPr>
        <p:spPr>
          <a:xfrm>
            <a:off x="685800" y="15087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Every recommendation is a billable event — and the data behind it is itself a product.</a:t>
            </a:r>
            <a:endParaRPr/>
          </a:p>
        </p:txBody>
      </p:sp>
      <p:sp>
        <p:nvSpPr>
          <p:cNvPr id="413" name="Google Shape;413;p21"/>
          <p:cNvSpPr/>
          <p:nvPr/>
        </p:nvSpPr>
        <p:spPr>
          <a:xfrm>
            <a:off x="685800" y="2057400"/>
            <a:ext cx="10789920" cy="7143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685800" y="2331720"/>
            <a:ext cx="5234940" cy="18288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685800" y="2331720"/>
            <a:ext cx="73152" cy="1828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1"/>
          <p:cNvSpPr txBox="1"/>
          <p:nvPr/>
        </p:nvSpPr>
        <p:spPr>
          <a:xfrm>
            <a:off x="1051535" y="2496315"/>
            <a:ext cx="731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417" name="Google Shape;417;p21"/>
          <p:cNvSpPr txBox="1"/>
          <p:nvPr/>
        </p:nvSpPr>
        <p:spPr>
          <a:xfrm>
            <a:off x="1051535" y="2770635"/>
            <a:ext cx="468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x402 micropayments</a:t>
            </a:r>
            <a:endParaRPr/>
          </a:p>
        </p:txBody>
      </p:sp>
      <p:sp>
        <p:nvSpPr>
          <p:cNvPr id="418" name="Google Shape;418;p21"/>
          <p:cNvSpPr txBox="1"/>
          <p:nvPr/>
        </p:nvSpPr>
        <p:spPr>
          <a:xfrm>
            <a:off x="1051535" y="3227835"/>
            <a:ext cx="468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Pay-per-call, settled on-chain.</a:t>
            </a:r>
            <a:endParaRPr/>
          </a:p>
        </p:txBody>
      </p:sp>
      <p:sp>
        <p:nvSpPr>
          <p:cNvPr id="419" name="Google Shape;419;p21"/>
          <p:cNvSpPr txBox="1"/>
          <p:nvPr/>
        </p:nvSpPr>
        <p:spPr>
          <a:xfrm>
            <a:off x="1051535" y="3593595"/>
            <a:ext cx="46863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Every chatbot query that returns a ranked strategy is gated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by HTTP 402 — sub-cent fees, no accounts, no friction.</a:t>
            </a:r>
            <a:endParaRPr/>
          </a:p>
        </p:txBody>
      </p:sp>
      <p:sp>
        <p:nvSpPr>
          <p:cNvPr id="420" name="Google Shape;420;p21"/>
          <p:cNvSpPr/>
          <p:nvPr/>
        </p:nvSpPr>
        <p:spPr>
          <a:xfrm>
            <a:off x="6240780" y="2331720"/>
            <a:ext cx="5234940" cy="18288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1"/>
          <p:cNvSpPr/>
          <p:nvPr/>
        </p:nvSpPr>
        <p:spPr>
          <a:xfrm>
            <a:off x="6240780" y="2331720"/>
            <a:ext cx="73152" cy="1828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1"/>
          <p:cNvSpPr txBox="1"/>
          <p:nvPr/>
        </p:nvSpPr>
        <p:spPr>
          <a:xfrm>
            <a:off x="6606515" y="2496315"/>
            <a:ext cx="731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423" name="Google Shape;423;p21"/>
          <p:cNvSpPr txBox="1"/>
          <p:nvPr/>
        </p:nvSpPr>
        <p:spPr>
          <a:xfrm>
            <a:off x="6606515" y="2770635"/>
            <a:ext cx="468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pay-per-use</a:t>
            </a:r>
            <a:endParaRPr/>
          </a:p>
        </p:txBody>
      </p:sp>
      <p:sp>
        <p:nvSpPr>
          <p:cNvPr id="424" name="Google Shape;424;p21"/>
          <p:cNvSpPr txBox="1"/>
          <p:nvPr/>
        </p:nvSpPr>
        <p:spPr>
          <a:xfrm>
            <a:off x="6606515" y="3227835"/>
            <a:ext cx="468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Aegis as a yield-decision API for other AI agents.</a:t>
            </a:r>
            <a:endParaRPr/>
          </a:p>
        </p:txBody>
      </p:sp>
      <p:sp>
        <p:nvSpPr>
          <p:cNvPr id="425" name="Google Shape;425;p21"/>
          <p:cNvSpPr txBox="1"/>
          <p:nvPr/>
        </p:nvSpPr>
        <p:spPr>
          <a:xfrm>
            <a:off x="6606515" y="3593595"/>
            <a:ext cx="46863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Wallet agents, trading bots, and portfolio copilots call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Aegis per recommendation and pay per response.</a:t>
            </a:r>
            <a:endParaRPr/>
          </a:p>
        </p:txBody>
      </p:sp>
      <p:sp>
        <p:nvSpPr>
          <p:cNvPr id="426" name="Google Shape;426;p21"/>
          <p:cNvSpPr/>
          <p:nvPr/>
        </p:nvSpPr>
        <p:spPr>
          <a:xfrm>
            <a:off x="685800" y="4434840"/>
            <a:ext cx="5234940" cy="18288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1"/>
          <p:cNvSpPr/>
          <p:nvPr/>
        </p:nvSpPr>
        <p:spPr>
          <a:xfrm>
            <a:off x="685800" y="4434840"/>
            <a:ext cx="73152" cy="1828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1"/>
          <p:cNvSpPr txBox="1"/>
          <p:nvPr/>
        </p:nvSpPr>
        <p:spPr>
          <a:xfrm>
            <a:off x="1051535" y="4599435"/>
            <a:ext cx="731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429" name="Google Shape;429;p21"/>
          <p:cNvSpPr txBox="1"/>
          <p:nvPr/>
        </p:nvSpPr>
        <p:spPr>
          <a:xfrm>
            <a:off x="1051535" y="4873755"/>
            <a:ext cx="468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Terminal AI</a:t>
            </a:r>
            <a:endParaRPr/>
          </a:p>
        </p:txBody>
      </p:sp>
      <p:sp>
        <p:nvSpPr>
          <p:cNvPr id="430" name="Google Shape;430;p21"/>
          <p:cNvSpPr txBox="1"/>
          <p:nvPr/>
        </p:nvSpPr>
        <p:spPr>
          <a:xfrm>
            <a:off x="1051535" y="5330955"/>
            <a:ext cx="468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AI agent integration</a:t>
            </a:r>
            <a:endParaRPr/>
          </a:p>
        </p:txBody>
      </p:sp>
      <p:sp>
        <p:nvSpPr>
          <p:cNvPr id="431" name="Google Shape;431;p21"/>
          <p:cNvSpPr txBox="1"/>
          <p:nvPr/>
        </p:nvSpPr>
        <p:spPr>
          <a:xfrm>
            <a:off x="1051535" y="5696715"/>
            <a:ext cx="4686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Terminal</a:t>
            </a: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for AI agent to pay for call dataI or pay for API without API keys</a:t>
            </a:r>
            <a:endParaRPr/>
          </a:p>
        </p:txBody>
      </p:sp>
      <p:sp>
        <p:nvSpPr>
          <p:cNvPr id="432" name="Google Shape;432;p21"/>
          <p:cNvSpPr/>
          <p:nvPr/>
        </p:nvSpPr>
        <p:spPr>
          <a:xfrm>
            <a:off x="6240780" y="4434840"/>
            <a:ext cx="5234940" cy="1828800"/>
          </a:xfrm>
          <a:prstGeom prst="roundRect">
            <a:avLst>
              <a:gd fmla="val 4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1"/>
          <p:cNvSpPr/>
          <p:nvPr/>
        </p:nvSpPr>
        <p:spPr>
          <a:xfrm>
            <a:off x="6240780" y="4434840"/>
            <a:ext cx="73152" cy="1828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1"/>
          <p:cNvSpPr txBox="1"/>
          <p:nvPr/>
        </p:nvSpPr>
        <p:spPr>
          <a:xfrm>
            <a:off x="6606515" y="4599435"/>
            <a:ext cx="731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435" name="Google Shape;435;p21"/>
          <p:cNvSpPr txBox="1"/>
          <p:nvPr/>
        </p:nvSpPr>
        <p:spPr>
          <a:xfrm>
            <a:off x="6606515" y="4873755"/>
            <a:ext cx="468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pipeline licensing</a:t>
            </a:r>
            <a:endParaRPr/>
          </a:p>
        </p:txBody>
      </p:sp>
      <p:sp>
        <p:nvSpPr>
          <p:cNvPr id="436" name="Google Shape;436;p21"/>
          <p:cNvSpPr txBox="1"/>
          <p:nvPr/>
        </p:nvSpPr>
        <p:spPr>
          <a:xfrm>
            <a:off x="6606515" y="5330955"/>
            <a:ext cx="468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Sell the dataset behind the answers.</a:t>
            </a:r>
            <a:endParaRPr/>
          </a:p>
        </p:txBody>
      </p:sp>
      <p:sp>
        <p:nvSpPr>
          <p:cNvPr id="437" name="Google Shape;437;p21"/>
          <p:cNvSpPr txBox="1"/>
          <p:nvPr/>
        </p:nvSpPr>
        <p:spPr>
          <a:xfrm>
            <a:off x="6606515" y="5696715"/>
            <a:ext cx="46863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Deduped, risk-scored, multi-chain yield data — licensed to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DeFi dashboards, fund managers, and analytics platforms.</a:t>
            </a:r>
            <a:endParaRPr/>
          </a:p>
        </p:txBody>
      </p:sp>
      <p:sp>
        <p:nvSpPr>
          <p:cNvPr id="438" name="Google Shape;438;p21"/>
          <p:cNvSpPr/>
          <p:nvPr/>
        </p:nvSpPr>
        <p:spPr>
          <a:xfrm>
            <a:off x="685800" y="6400800"/>
            <a:ext cx="1828800" cy="14287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1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Aegis-Intent  ·  Every query pays. Every dataset sells.</a:t>
            </a:r>
            <a:endParaRPr/>
          </a:p>
        </p:txBody>
      </p:sp>
      <p:sp>
        <p:nvSpPr>
          <p:cNvPr id="440" name="Google Shape;440;p21"/>
          <p:cNvSpPr txBox="1"/>
          <p:nvPr/>
        </p:nvSpPr>
        <p:spPr>
          <a:xfrm>
            <a:off x="685800" y="6473952"/>
            <a:ext cx="10789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09 / 1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2"/>
          <p:cNvSpPr txBox="1"/>
          <p:nvPr/>
        </p:nvSpPr>
        <p:spPr>
          <a:xfrm>
            <a:off x="685800" y="476250"/>
            <a:ext cx="54864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09 · THE STACK</a:t>
            </a:r>
            <a:endParaRPr b="1" sz="1000">
              <a:solidFill>
                <a:srgbClr val="06D6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 txBox="1"/>
          <p:nvPr/>
        </p:nvSpPr>
        <p:spPr>
          <a:xfrm>
            <a:off x="685800" y="762000"/>
            <a:ext cx="109728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stack we ship on.</a:t>
            </a:r>
            <a:endParaRPr b="1"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2"/>
          <p:cNvSpPr txBox="1"/>
          <p:nvPr/>
        </p:nvSpPr>
        <p:spPr>
          <a:xfrm>
            <a:off x="685800" y="1381125"/>
            <a:ext cx="109728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Two live APIs. No AWS. No vendor lock-in. Buildable in 24 hours by a team of two.</a:t>
            </a:r>
            <a:endParaRPr b="0" i="1" sz="140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685800" y="1905000"/>
            <a:ext cx="5238900" cy="2000100"/>
          </a:xfrm>
          <a:prstGeom prst="roundRect">
            <a:avLst>
              <a:gd fmla="val 380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2"/>
          <p:cNvSpPr/>
          <p:nvPr/>
        </p:nvSpPr>
        <p:spPr>
          <a:xfrm>
            <a:off x="685800" y="1905000"/>
            <a:ext cx="76200" cy="20001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2"/>
          <p:cNvSpPr txBox="1"/>
          <p:nvPr/>
        </p:nvSpPr>
        <p:spPr>
          <a:xfrm>
            <a:off x="1000125" y="2047875"/>
            <a:ext cx="46674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1" sz="1100">
              <a:solidFill>
                <a:srgbClr val="06D6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2"/>
          <p:cNvSpPr txBox="1"/>
          <p:nvPr/>
        </p:nvSpPr>
        <p:spPr>
          <a:xfrm>
            <a:off x="1000125" y="2286000"/>
            <a:ext cx="46674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· Minimax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1000125" y="2714625"/>
            <a:ext cx="4619700" cy="96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2"/>
          <p:cNvSpPr txBox="1"/>
          <p:nvPr/>
        </p:nvSpPr>
        <p:spPr>
          <a:xfrm>
            <a:off x="1000125" y="2809875"/>
            <a:ext cx="4619700" cy="66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– API server + x402 middleware</a:t>
            </a:r>
            <a:endParaRPr sz="110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httpx</a:t>
            </a: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– async DeFiLlama fetcher</a:t>
            </a:r>
            <a:endParaRPr sz="110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-US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– Minimax integration</a:t>
            </a:r>
            <a:endParaRPr sz="110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2"/>
          <p:cNvSpPr/>
          <p:nvPr/>
        </p:nvSpPr>
        <p:spPr>
          <a:xfrm>
            <a:off x="6267450" y="1905000"/>
            <a:ext cx="5238900" cy="2000100"/>
          </a:xfrm>
          <a:prstGeom prst="roundRect">
            <a:avLst>
              <a:gd fmla="val 380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2"/>
          <p:cNvSpPr/>
          <p:nvPr/>
        </p:nvSpPr>
        <p:spPr>
          <a:xfrm>
            <a:off x="6267450" y="1905000"/>
            <a:ext cx="76200" cy="20001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2"/>
          <p:cNvSpPr txBox="1"/>
          <p:nvPr/>
        </p:nvSpPr>
        <p:spPr>
          <a:xfrm>
            <a:off x="6572250" y="2047875"/>
            <a:ext cx="46674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1" sz="1100">
              <a:solidFill>
                <a:srgbClr val="06D6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2"/>
          <p:cNvSpPr txBox="1"/>
          <p:nvPr/>
        </p:nvSpPr>
        <p:spPr>
          <a:xfrm>
            <a:off x="6572250" y="2286000"/>
            <a:ext cx="46674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Next.js · Tailwind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2"/>
          <p:cNvSpPr/>
          <p:nvPr/>
        </p:nvSpPr>
        <p:spPr>
          <a:xfrm>
            <a:off x="6572250" y="2714625"/>
            <a:ext cx="4619700" cy="96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2"/>
          <p:cNvSpPr txBox="1"/>
          <p:nvPr/>
        </p:nvSpPr>
        <p:spPr>
          <a:xfrm>
            <a:off x="6572250" y="2809875"/>
            <a:ext cx="4619700" cy="908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Next.js 14</a:t>
            </a: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– Application framework</a:t>
            </a:r>
            <a:endParaRPr sz="110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Tailwind CSS</a:t>
            </a: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– Utility-first styling</a:t>
            </a:r>
            <a:endParaRPr sz="110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viem</a:t>
            </a: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– Lightweight wallet interactions</a:t>
            </a:r>
            <a:endParaRPr sz="110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recharts</a:t>
            </a: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– 5-Pillar radar visualisation</a:t>
            </a:r>
            <a:endParaRPr sz="110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2"/>
          <p:cNvSpPr/>
          <p:nvPr/>
        </p:nvSpPr>
        <p:spPr>
          <a:xfrm>
            <a:off x="685800" y="4048125"/>
            <a:ext cx="5238900" cy="2000100"/>
          </a:xfrm>
          <a:prstGeom prst="roundRect">
            <a:avLst>
              <a:gd fmla="val 380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2"/>
          <p:cNvSpPr/>
          <p:nvPr/>
        </p:nvSpPr>
        <p:spPr>
          <a:xfrm>
            <a:off x="685800" y="4048125"/>
            <a:ext cx="76200" cy="20001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2"/>
          <p:cNvSpPr txBox="1"/>
          <p:nvPr/>
        </p:nvSpPr>
        <p:spPr>
          <a:xfrm>
            <a:off x="1000125" y="4191000"/>
            <a:ext cx="46674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BLOCKCHAIN</a:t>
            </a:r>
            <a:endParaRPr b="1" sz="1100">
              <a:solidFill>
                <a:srgbClr val="06D6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2"/>
          <p:cNvSpPr txBox="1"/>
          <p:nvPr/>
        </p:nvSpPr>
        <p:spPr>
          <a:xfrm>
            <a:off x="1000125" y="4429125"/>
            <a:ext cx="46674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ERC-4337 + x402 on EVM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2"/>
          <p:cNvSpPr/>
          <p:nvPr/>
        </p:nvSpPr>
        <p:spPr>
          <a:xfrm>
            <a:off x="1000125" y="4857750"/>
            <a:ext cx="4619700" cy="96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2"/>
          <p:cNvSpPr txBox="1"/>
          <p:nvPr/>
        </p:nvSpPr>
        <p:spPr>
          <a:xfrm>
            <a:off x="1000125" y="4953000"/>
            <a:ext cx="4619700" cy="66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x402 facilitator</a:t>
            </a: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– Coinbase-hosted payment verify</a:t>
            </a:r>
            <a:endParaRPr sz="110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USDC </a:t>
            </a: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– Primary settlement currency</a:t>
            </a:r>
            <a:endParaRPr sz="110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Solana, </a:t>
            </a:r>
            <a:r>
              <a:rPr b="1" lang="en-US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Base, Monad, Sui</a:t>
            </a: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– integrated network</a:t>
            </a:r>
            <a:endParaRPr sz="110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2"/>
          <p:cNvSpPr/>
          <p:nvPr/>
        </p:nvSpPr>
        <p:spPr>
          <a:xfrm>
            <a:off x="6267450" y="4048125"/>
            <a:ext cx="5238900" cy="2000100"/>
          </a:xfrm>
          <a:prstGeom prst="roundRect">
            <a:avLst>
              <a:gd fmla="val 380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2"/>
          <p:cNvSpPr/>
          <p:nvPr/>
        </p:nvSpPr>
        <p:spPr>
          <a:xfrm>
            <a:off x="6267450" y="4048125"/>
            <a:ext cx="76200" cy="20001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2"/>
          <p:cNvSpPr txBox="1"/>
          <p:nvPr/>
        </p:nvSpPr>
        <p:spPr>
          <a:xfrm>
            <a:off x="6572250" y="4191000"/>
            <a:ext cx="46674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1" sz="1100">
              <a:solidFill>
                <a:srgbClr val="06D6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2"/>
          <p:cNvSpPr txBox="1"/>
          <p:nvPr/>
        </p:nvSpPr>
        <p:spPr>
          <a:xfrm>
            <a:off x="6572250" y="4429125"/>
            <a:ext cx="46674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 sources. That's it.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2"/>
          <p:cNvSpPr/>
          <p:nvPr/>
        </p:nvSpPr>
        <p:spPr>
          <a:xfrm>
            <a:off x="6572250" y="4857750"/>
            <a:ext cx="4619700" cy="96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2"/>
          <p:cNvSpPr txBox="1"/>
          <p:nvPr/>
        </p:nvSpPr>
        <p:spPr>
          <a:xfrm>
            <a:off x="6572250" y="4953000"/>
            <a:ext cx="46197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yields.llama.fi/pools</a:t>
            </a:r>
            <a:endParaRPr sz="110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The primary data hub for DeFi yield tracking, risk metrics, and historical performance across all major chains.</a:t>
            </a:r>
            <a:endParaRPr sz="110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2"/>
          <p:cNvSpPr txBox="1"/>
          <p:nvPr/>
        </p:nvSpPr>
        <p:spPr>
          <a:xfrm>
            <a:off x="685800" y="6429375"/>
            <a:ext cx="73152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Aegis-Intent · Built in 24h. Demo-tested.</a:t>
            </a:r>
            <a:endParaRPr b="0"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>
            <a:off x="685800" y="6429375"/>
            <a:ext cx="107823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/ 1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3"/>
          <p:cNvSpPr txBox="1"/>
          <p:nvPr/>
        </p:nvSpPr>
        <p:spPr>
          <a:xfrm>
            <a:off x="7772400" y="4114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HACKATHON  ·  2026</a:t>
            </a:r>
            <a:endParaRPr/>
          </a:p>
        </p:txBody>
      </p:sp>
      <p:sp>
        <p:nvSpPr>
          <p:cNvPr id="480" name="Google Shape;480;p23"/>
          <p:cNvSpPr txBox="1"/>
          <p:nvPr/>
        </p:nvSpPr>
        <p:spPr>
          <a:xfrm>
            <a:off x="685800" y="24688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And that's the pitch.</a:t>
            </a:r>
            <a:endParaRPr/>
          </a:p>
        </p:txBody>
      </p:sp>
      <p:sp>
        <p:nvSpPr>
          <p:cNvPr id="481" name="Google Shape;481;p23"/>
          <p:cNvSpPr txBox="1"/>
          <p:nvPr/>
        </p:nvSpPr>
        <p:spPr>
          <a:xfrm>
            <a:off x="685800" y="2926080"/>
            <a:ext cx="10972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you.</a:t>
            </a:r>
            <a:endParaRPr/>
          </a:p>
        </p:txBody>
      </p:sp>
      <p:sp>
        <p:nvSpPr>
          <p:cNvPr id="482" name="Google Shape;482;p23"/>
          <p:cNvSpPr txBox="1"/>
          <p:nvPr/>
        </p:nvSpPr>
        <p:spPr>
          <a:xfrm>
            <a:off x="685800" y="49377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Questions, feedback, or just want to try it — let's talk.</a:t>
            </a:r>
            <a:endParaRPr/>
          </a:p>
        </p:txBody>
      </p:sp>
      <p:sp>
        <p:nvSpPr>
          <p:cNvPr id="483" name="Google Shape;483;p23"/>
          <p:cNvSpPr/>
          <p:nvPr/>
        </p:nvSpPr>
        <p:spPr>
          <a:xfrm>
            <a:off x="685800" y="6400800"/>
            <a:ext cx="1828800" cy="14287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3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Aegis-Intent  ·  DeFi yield, by intent.</a:t>
            </a:r>
            <a:endParaRPr/>
          </a:p>
        </p:txBody>
      </p:sp>
      <p:sp>
        <p:nvSpPr>
          <p:cNvPr id="485" name="Google Shape;485;p23"/>
          <p:cNvSpPr txBox="1"/>
          <p:nvPr/>
        </p:nvSpPr>
        <p:spPr>
          <a:xfrm>
            <a:off x="685800" y="6473952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3"/>
          <p:cNvSpPr/>
          <p:nvPr/>
        </p:nvSpPr>
        <p:spPr>
          <a:xfrm>
            <a:off x="603504" y="484632"/>
            <a:ext cx="164700" cy="1647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3"/>
          <p:cNvSpPr txBox="1"/>
          <p:nvPr/>
        </p:nvSpPr>
        <p:spPr>
          <a:xfrm>
            <a:off x="850355" y="484630"/>
            <a:ext cx="3657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AEGIS-INTENT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